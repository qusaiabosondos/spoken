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Accuracy on dev set (known attacks)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9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MFCC+SVM</c:v>
                  </c:pt>
                  <c:pt idx="1">
                    <c:v>LFCC+SVM</c:v>
                  </c:pt>
                  <c:pt idx="2">
                    <c:v>MFCC+RF</c:v>
                  </c:pt>
                  <c:pt idx="3">
                    <c:v>MFCC+Spec+SVM</c:v>
                  </c:pt>
                  <c:pt idx="4">
                    <c:v>All+SVM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89.2</c:v>
                </c:pt>
                <c:pt idx="1">
                  <c:v>98.8</c:v>
                </c:pt>
                <c:pt idx="2">
                  <c:v>89.3</c:v>
                </c:pt>
                <c:pt idx="3">
                  <c:v>90.9</c:v>
                </c:pt>
                <c:pt idx="4">
                  <c:v>99.5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229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0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 (known attacks)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9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MFCC+SVM</c:v>
                  </c:pt>
                  <c:pt idx="1">
                    <c:v>LFCC+SVM</c:v>
                  </c:pt>
                  <c:pt idx="2">
                    <c:v>MFCC+RF</c:v>
                  </c:pt>
                  <c:pt idx="3">
                    <c:v>MFCC+Spec+SVM</c:v>
                  </c:pt>
                  <c:pt idx="4">
                    <c:v>All+SVM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89.2</c:v>
                </c:pt>
                <c:pt idx="1">
                  <c:v>98.8</c:v>
                </c:pt>
                <c:pt idx="2">
                  <c:v>89.3</c:v>
                </c:pt>
                <c:pt idx="3">
                  <c:v>90.9</c:v>
                </c:pt>
                <c:pt idx="4">
                  <c:v>99.5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 (unseen attacks)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9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MFCC+SVM</c:v>
                  </c:pt>
                  <c:pt idx="1">
                    <c:v>LFCC+SVM</c:v>
                  </c:pt>
                  <c:pt idx="2">
                    <c:v>MFCC+RF</c:v>
                  </c:pt>
                  <c:pt idx="3">
                    <c:v>MFCC+Spec+SVM</c:v>
                  </c:pt>
                  <c:pt idx="4">
                    <c:v>All+SVM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89.3</c:v>
                </c:pt>
                <c:pt idx="1">
                  <c:v>87.5</c:v>
                </c:pt>
                <c:pt idx="2">
                  <c:v>86.1</c:v>
                </c:pt>
                <c:pt idx="3">
                  <c:v>90</c:v>
                </c:pt>
                <c:pt idx="4">
                  <c:v>91.1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229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0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9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20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20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A18</c:v>
                  </c:pt>
                  <c:pt idx="1">
                    <c:v>A17</c:v>
                  </c:pt>
                  <c:pt idx="2">
                    <c:v>A12</c:v>
                  </c:pt>
                  <c:pt idx="3">
                    <c:v>A15</c:v>
                  </c:pt>
                  <c:pt idx="4">
                    <c:v>A10</c:v>
                  </c:pt>
                  <c:pt idx="5">
                    <c:v>A14</c:v>
                  </c:pt>
                  <c:pt idx="6">
                    <c:v>bonafide</c:v>
                  </c:pt>
                  <c:pt idx="7">
                    <c:v>A07</c:v>
                  </c:pt>
                  <c:pt idx="8">
                    <c:v>A13</c:v>
                  </c:pt>
                  <c:pt idx="9">
                    <c:v>A11</c:v>
                  </c:pt>
                  <c:pt idx="10">
                    <c:v>A08</c:v>
                  </c:pt>
                  <c:pt idx="11">
                    <c:v>A09</c:v>
                  </c:pt>
                  <c:pt idx="12">
                    <c:v>A16</c:v>
                  </c:pt>
                  <c:pt idx="13">
                    <c:v>A19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11.6</c:v>
                </c:pt>
                <c:pt idx="2">
                  <c:v>58.6</c:v>
                </c:pt>
                <c:pt idx="3">
                  <c:v>89.1</c:v>
                </c:pt>
                <c:pt idx="4">
                  <c:v>91.3</c:v>
                </c:pt>
                <c:pt idx="5">
                  <c:v>96.2</c:v>
                </c:pt>
                <c:pt idx="6">
                  <c:v>99.1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229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0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we built a system to tell real human speech apart from AI-generated (TTS/voice-conversion) speech, using classical speech-processing features rather than a big neural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this matters: cheap voice cloning, ASV spoofing, and fraud/misinformation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research question and three-part approach: features, classifiers, generalization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Train/dev share 6 known attacks; eval has 11 completely different, unseen attacks — that's our generalization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16kHz mono, 25ms window/10ms hop. Three feature families extracted independently then concatenated before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data matching the training distribution, combining all three feature families gives the best result: 99.5% accuracy, 0.3% 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generalization finding: LFCC looked best on dev but overfits; the fused feature set generalizes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clearest, most actionable finding: aggregate accuracy hides that 2-3 specific attacks account for almost all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takeaways to remember: fusion is robust, single-feature wins can mislead, failures are concentrated, and false-alarm rate is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switch to the terminal/notebook: run src.evaluate or a small predict script on two held-out clips and show the output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met the project's objective; main gaps are a couple of specific attack types and untried deep-learning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and open the floor for questions. AI tool usage is fully disclosed in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6092749"/>
            <a:ext cx="231572" cy="216611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1300" y="5848438"/>
            <a:ext cx="231572" cy="46092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6024" y="5647732"/>
            <a:ext cx="231572" cy="66162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0747" y="5718224"/>
            <a:ext cx="231572" cy="59113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5471" y="5957528"/>
            <a:ext cx="231572" cy="35183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60195" y="5981922"/>
            <a:ext cx="231572" cy="32743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64919" y="5694504"/>
            <a:ext cx="231572" cy="61485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69643" y="5640938"/>
            <a:ext cx="231572" cy="66842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74366" y="5852580"/>
            <a:ext cx="231572" cy="45678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79090" y="6155709"/>
            <a:ext cx="231572" cy="153651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083814" y="5803186"/>
            <a:ext cx="231572" cy="50617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88538" y="5692461"/>
            <a:ext cx="231572" cy="616899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93262" y="5713520"/>
            <a:ext cx="231572" cy="59584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997985" y="5986776"/>
            <a:ext cx="231572" cy="32258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02709" y="5976354"/>
            <a:ext cx="231572" cy="33300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07433" y="5718004"/>
            <a:ext cx="231572" cy="59135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12157" y="5717813"/>
            <a:ext cx="231572" cy="591547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216881" y="5802883"/>
            <a:ext cx="231572" cy="506477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21604" y="6138120"/>
            <a:ext cx="231572" cy="17124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826328" y="5854725"/>
            <a:ext cx="231572" cy="454635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31052" y="5698428"/>
            <a:ext cx="231572" cy="61093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35776" y="5705532"/>
            <a:ext cx="231572" cy="60382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40500" y="5976696"/>
            <a:ext cx="231572" cy="33266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045223" y="5936703"/>
            <a:ext cx="231572" cy="372657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49947" y="5738952"/>
            <a:ext cx="231572" cy="57040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54671" y="5721488"/>
            <a:ext cx="231572" cy="58787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959395" y="5851776"/>
            <a:ext cx="231572" cy="45758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64119" y="6115926"/>
            <a:ext cx="231572" cy="193434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68842" y="5855847"/>
            <a:ext cx="231572" cy="453513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873566" y="5651913"/>
            <a:ext cx="231572" cy="657447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178290" y="5787985"/>
            <a:ext cx="231572" cy="521375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483014" y="6033284"/>
            <a:ext cx="231572" cy="27607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87738" y="5952274"/>
            <a:ext cx="231572" cy="35708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092461" y="5756568"/>
            <a:ext cx="231572" cy="55279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397185" y="5705693"/>
            <a:ext cx="231572" cy="603667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701909" y="5900038"/>
            <a:ext cx="231572" cy="409322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006633" y="6113491"/>
            <a:ext cx="231572" cy="195869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311357" y="5830012"/>
            <a:ext cx="231572" cy="47934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16080" y="5649034"/>
            <a:ext cx="231572" cy="660326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920804" y="5714649"/>
            <a:ext cx="231572" cy="594711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0" descr="/home/user/spoken/report/build_pptx/icons/mi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01014"/>
            <a:ext cx="592531" cy="592531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AI-Generated Speech</a:t>
            </a:r>
            <a:endParaRPr lang="en-US" sz="4000" dirty="0"/>
          </a:p>
        </p:txBody>
      </p:sp>
      <p:sp>
        <p:nvSpPr>
          <p:cNvPr id="45" name="Text 42"/>
          <p:cNvSpPr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Classical Cepstral &amp; Spectral Features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Qusai Abu Sondos   ·   Laith Shadeh   ·   Mohammad Alabed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Language Processing — Summer 2026  |  Birzeit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user/spoken/report/build_pptx/icons/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4" y="152613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89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cloning is cheap now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76479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TTS and voice-conversion systems can synthesize a convincing voice from a short reference clip.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user/spoken/report/build_pptx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4" y="303489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898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defeats biometric security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45920" y="32735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speaker verification (ASV) systems can be fooled by synthetic or converted speech — a direct spoofing threat.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user/spoken/report/build_pptx/icon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4" y="4543654"/>
            <a:ext cx="559613" cy="5596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407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fuels fraud &amp; misinformation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45920" y="47823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calls, fake endorsements, and fabricated audio evidence all rely on the listener not being able to tell.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user/spoken/report/build_pptx/icons/question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748894"/>
            <a:ext cx="559613" cy="559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classical, hand-crafted speech features still reliably separate real from AI-generated speech — and does that hold up against synthesis systems the model has never seen?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MFCC, LFCC &amp; spectral features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26280" y="42062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SVM and Random Forest classifiers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42062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45820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known AND unseen attack types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Experimental Protocol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user/spoken/report/build_pptx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ASVspoof2019 Logical Access (LA)  —  official speaker-disjoint train/dev/eval protocol (no data leakage)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F5F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1,500/class · 6 known attacks (A01–A06)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9202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F5F8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2148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2468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572000" y="35204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500/class · same 6 known attacks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9202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F5F8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0" y="2148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46720" y="2468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321040" y="35204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750/class · 11 UNSEEN attacks (A07–A19)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obtained via a Kaggle mirror — the official University of Edinburgh DataShare host was unreachable from our development environment.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 &amp; Classification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user/spoken/report/build_pptx/icons/flas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pic>
        <p:nvPicPr>
          <p:cNvPr id="6" name="Image 1" descr="/home/user/spoken/report/pipeline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7863840" cy="3593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953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595360" y="16642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coeffs + Δ+ΔΔ, Mel filterbank → 120-D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59536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LFCC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95360" y="27157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custom LINEAR filterbank → 120-D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59536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Spectral/time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595360" y="37673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Centroid, bandwidth, roll-off, flux, ZCR, energy → 12-D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9536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595360" y="48188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(RBF, calibrated) &amp; Random Forest (300 trees)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KNOWN ATTACKS (DEV)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Fusion Wins on Matched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user/spoken/report/build_pptx/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48640" y="12801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28016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EFF5F8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All features + SVM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955280" y="17830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001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875520" y="1783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0.3%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9921240" y="2487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772400" y="365760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LFCC alone already beats MFCC alone by a wide margin (98.8% vs. 89.2%) — its linear frequency resolution captures artifacts MFCC's Mel-scale compression smooths over.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GENERALIZATION (EVAL)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Drops on Unseen Attacks — But Not Equally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/home/user/spoken/report/build_pptx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48640" y="1234440"/>
          <a:ext cx="11064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LFCC alone collapses from 98.8% → 87.5% (spoof recall drops from 98.4% → 76.4%) — it partly memorizes known attack artifacts. The full feature combination stays the most robust: 91.1% accuracy / 6.5% EER on completely unseen attacks.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PER-ATTACK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Are Concentrated in Two Attacks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/home/user/spoken/report/build_pptx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12344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(All+SVM) on eval: 7 of 11 unseen attacks detected perfectly, bona fide speech recognized 99.1% of the time — but A17 &amp; A18 (likely advanced voice-conversion systems) evade detection almost entirely.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user/spoken/report/build_pptx/icons/lightbulb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053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733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is the most robust choice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MFCC+LFCC+spectral consistently wins on both known and unseen attacks.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4378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Single-feature accuracy can be misleading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2278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LFCC alone tops the dev leaderboard but overfits and drops hardest on unseen attacks.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94106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142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are specific, not general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4398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unseen voice-conversion attacks (A17, A18) evade classical features almost completely.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1114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1846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stay 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55686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fide speech is correctly recognized ~99% of the time across all experiments.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5486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user/spoken/report/build_pptx/icons/play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67665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held-out audio clip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(bona fide) and one AI-generated (spoof) recording, unseen during training.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26280" y="24688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75488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trained pipeline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54880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MFCC+LFCC+spectral features → feed to the SVM classifier.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24688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45820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verdict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58200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 + confidence score for each clip, live.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— and 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0" y="32004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5" name="Image 0" descr="/home/user/spoken/report/build_pptx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211" y="409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classical-feature pipeline: extraction → training → evaluation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accuracy / 0.3% EER on known attacks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accuracy / 6.5% EER on 11 unseen attacks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exactly which attacks classical features miss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63640" y="17830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test on ASVspoof2021 DF / WaveFake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CNN-on-spectrograms comparison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targeted at the A17/A18 failure cases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1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from class-balanced subsets to the full corpus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1887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user/spoken/report/build_pptx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380744"/>
            <a:ext cx="987552" cy="987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Qusai Abu Sondos   ·   Laith Shadeh   ·   Mohammad Alabed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 pipeline &amp; full report: github.com/qusaiAboSondos/spoken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2026-09-13T11:22:29Z</dcterms:created>
  <dcterms:modified xsi:type="dcterms:W3CDTF">2026-09-13T11:22:29Z</dcterms:modified>
</cp:coreProperties>
</file>